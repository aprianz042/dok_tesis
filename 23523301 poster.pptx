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</p:sldIdLst>
  <p:sldSz cx="6858000" cy="9906000" type="A4"/>
  <p:notesSz cx="6858000" cy="9144000"/>
  <p:embeddedFontLst>
    <p:embeddedFont>
      <p:font typeface="Montserrat Black" panose="020B0604020202020204" charset="0"/>
      <p:bold r:id="rId3"/>
    </p:embeddedFont>
    <p:embeddedFont>
      <p:font typeface="Plus Jakarta Sans" panose="020B0604020202020204" charset="0"/>
      <p:regular r:id="rId4"/>
      <p:bold r:id="rId5"/>
      <p:italic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29" autoAdjust="0"/>
    <p:restoredTop sz="94660"/>
  </p:normalViewPr>
  <p:slideViewPr>
    <p:cSldViewPr snapToGrid="0">
      <p:cViewPr>
        <p:scale>
          <a:sx n="125" d="100"/>
          <a:sy n="125" d="100"/>
        </p:scale>
        <p:origin x="556" y="-5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33798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754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1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55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516" y="167891"/>
            <a:ext cx="5232026" cy="727654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7274" y="1437284"/>
            <a:ext cx="3293785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Real Problem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274" y="1999387"/>
            <a:ext cx="3293785" cy="19361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  <p:pic>
        <p:nvPicPr>
          <p:cNvPr id="11" name="Picture 10" descr="A blue and white logo with a white elephant and text&#10;&#10;AI-generated content may be incorrect.">
            <a:extLst>
              <a:ext uri="{FF2B5EF4-FFF2-40B4-BE49-F238E27FC236}">
                <a16:creationId xmlns:a16="http://schemas.microsoft.com/office/drawing/2014/main" id="{84647CD9-772C-213B-73F9-C50FCADE4B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635" y="80121"/>
            <a:ext cx="820743" cy="820743"/>
          </a:xfrm>
          <a:prstGeom prst="rect">
            <a:avLst/>
          </a:prstGeom>
        </p:spPr>
      </p:pic>
      <p:pic>
        <p:nvPicPr>
          <p:cNvPr id="12" name="Picture 11" descr="A black and red logo&#10;&#10;AI-generated content may be incorrect.">
            <a:extLst>
              <a:ext uri="{FF2B5EF4-FFF2-40B4-BE49-F238E27FC236}">
                <a16:creationId xmlns:a16="http://schemas.microsoft.com/office/drawing/2014/main" id="{4DF9E6C9-22E4-5AB4-FFDF-50A6732386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8" y="9324975"/>
            <a:ext cx="812257" cy="396126"/>
          </a:xfrm>
          <a:prstGeom prst="rect">
            <a:avLst/>
          </a:prstGeom>
        </p:spPr>
      </p:pic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DB4C0F2D-3FB8-8ABD-20C7-F1C519911730}"/>
              </a:ext>
            </a:extLst>
          </p:cNvPr>
          <p:cNvSpPr/>
          <p:nvPr userDrawn="1"/>
        </p:nvSpPr>
        <p:spPr>
          <a:xfrm rot="5400000">
            <a:off x="-204788" y="326931"/>
            <a:ext cx="819150" cy="409575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9AB7B12-6550-169D-212A-7D9B4C80A79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08612" y="1437284"/>
            <a:ext cx="2610646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Design </a:t>
            </a:r>
            <a:r>
              <a:rPr lang="id-ID" dirty="0" err="1"/>
              <a:t>Requirement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57A353C-370C-9B7E-A7F6-FE4EF0B7100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908612" y="1999387"/>
            <a:ext cx="2610646" cy="19361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90E9BB5-62BB-E074-8F96-8BA05E82F41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47274" y="4284892"/>
            <a:ext cx="3293785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Design </a:t>
            </a:r>
            <a:r>
              <a:rPr lang="id-ID" dirty="0" err="1"/>
              <a:t>Result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0706732-24B0-72D7-9178-96BD3192317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47274" y="4846995"/>
            <a:ext cx="3293785" cy="410874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281C15E-EDF0-8919-5C17-7D716B87188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908612" y="4234923"/>
            <a:ext cx="2610646" cy="44932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d-ID" dirty="0"/>
              <a:t>Design </a:t>
            </a:r>
            <a:r>
              <a:rPr lang="id-ID" dirty="0" err="1"/>
              <a:t>Methodology</a:t>
            </a:r>
            <a:endParaRPr lang="en-US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0F59A6F9-7B2C-12F3-1F5C-0E1F095CBC83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908612" y="4797026"/>
            <a:ext cx="2610646" cy="193611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33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529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406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3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40643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950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115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A9728-2D9F-4357-A405-B53AE4269E08}" type="datetimeFigureOut">
              <a:rPr lang="en-ID" smtClean="0"/>
              <a:t>24/11/2025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1471C-116B-4011-9B89-7B90140835C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295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tx1"/>
          </a:solidFill>
          <a:latin typeface="Plus Jakarta Sans" pitchFamily="2" charset="0"/>
          <a:ea typeface="+mj-ea"/>
          <a:cs typeface="Plus Jakarta Sans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Plus Jakarta Sans" pitchFamily="2" charset="0"/>
          <a:ea typeface="+mn-ea"/>
          <a:cs typeface="Plus Jakarta Sans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white logo with a white elephant and text&#10;&#10;AI-generated content may be incorrect.">
            <a:extLst>
              <a:ext uri="{FF2B5EF4-FFF2-40B4-BE49-F238E27FC236}">
                <a16:creationId xmlns:a16="http://schemas.microsoft.com/office/drawing/2014/main" id="{2F7EB5A2-EBD7-4055-C13F-21E4EB231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7875" y="76199"/>
            <a:ext cx="885825" cy="885825"/>
          </a:xfrm>
          <a:prstGeom prst="rect">
            <a:avLst/>
          </a:prstGeom>
        </p:spPr>
      </p:pic>
      <p:pic>
        <p:nvPicPr>
          <p:cNvPr id="8" name="Picture 7" descr="A black and red logo&#10;&#10;AI-generated content may be incorrect.">
            <a:extLst>
              <a:ext uri="{FF2B5EF4-FFF2-40B4-BE49-F238E27FC236}">
                <a16:creationId xmlns:a16="http://schemas.microsoft.com/office/drawing/2014/main" id="{4C03C16D-A93D-4347-C70C-D1E326A577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91" y="9540598"/>
            <a:ext cx="648294" cy="316164"/>
          </a:xfrm>
          <a:prstGeom prst="rect">
            <a:avLst/>
          </a:pr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037BEA08-56A5-C1CA-5787-ACB29056406D}"/>
              </a:ext>
            </a:extLst>
          </p:cNvPr>
          <p:cNvSpPr/>
          <p:nvPr/>
        </p:nvSpPr>
        <p:spPr>
          <a:xfrm rot="5400000">
            <a:off x="-204788" y="389686"/>
            <a:ext cx="819150" cy="409575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31B830-D13F-4027-A08F-590ADD0E47BC}"/>
              </a:ext>
            </a:extLst>
          </p:cNvPr>
          <p:cNvSpPr/>
          <p:nvPr/>
        </p:nvSpPr>
        <p:spPr>
          <a:xfrm>
            <a:off x="532516" y="73024"/>
            <a:ext cx="5153909" cy="8191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DETEKSI TINGKAT ENGAGEMENT SISWA DENGAN EMOSI WAJAH PADA ASYNCHRONOUS LEARNING</a:t>
            </a:r>
            <a:br>
              <a:rPr lang="id-ID" sz="1600" b="1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</a:br>
            <a:r>
              <a:rPr lang="en-US" sz="1050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Ari Apriansyah / 23523301 / 23523301@std.stei.itb.ac.id</a:t>
            </a:r>
            <a:br>
              <a:rPr lang="id-ID" sz="1050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</a:br>
            <a:r>
              <a:rPr lang="en-US" sz="1050" dirty="0" err="1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Institut</a:t>
            </a:r>
            <a:r>
              <a:rPr lang="en-US" sz="1050" dirty="0">
                <a:solidFill>
                  <a:srgbClr val="0070C0"/>
                </a:solidFill>
                <a:latin typeface="Plus Jakarta Sans" pitchFamily="2" charset="0"/>
                <a:cs typeface="Plus Jakarta Sans" pitchFamily="2" charset="0"/>
              </a:rPr>
              <a:t> Pemerintahan Dalam Negeri</a:t>
            </a:r>
            <a:endParaRPr lang="en-ID" sz="1600" dirty="0">
              <a:solidFill>
                <a:srgbClr val="0070C0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00E08-FF91-DC46-DA60-B47B2AC5F104}"/>
              </a:ext>
            </a:extLst>
          </p:cNvPr>
          <p:cNvSpPr/>
          <p:nvPr/>
        </p:nvSpPr>
        <p:spPr>
          <a:xfrm>
            <a:off x="200026" y="1323975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7E2F6E-19F0-C9E5-3BB0-7249A234F435}"/>
              </a:ext>
            </a:extLst>
          </p:cNvPr>
          <p:cNvSpPr txBox="1"/>
          <p:nvPr/>
        </p:nvSpPr>
        <p:spPr>
          <a:xfrm>
            <a:off x="204787" y="1385049"/>
            <a:ext cx="9444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MASALAH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CE9567-14D1-51F3-D404-4DA27575F139}"/>
              </a:ext>
            </a:extLst>
          </p:cNvPr>
          <p:cNvSpPr/>
          <p:nvPr/>
        </p:nvSpPr>
        <p:spPr>
          <a:xfrm>
            <a:off x="322966" y="1692826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Dalam pembelajaran asinkron, pemantauan keterlibatan siswa menjadi tantangan karena minimnya interaksi langsung antara pengajar dan peserta didik. </a:t>
            </a:r>
            <a:endParaRPr lang="en-US" sz="6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algn="ctr"/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Teknologi </a:t>
            </a:r>
            <a:r>
              <a:rPr lang="id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Facial Emotion Recognition 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(FER) telah banyak digunakan untuk mendeteksi ekspresi wajah sebagai indikator keterlibatan, namun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akurasinya menurun 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ketika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 tertutup objek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atau berada dalam posisi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non-frontal</a:t>
            </a:r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. </a:t>
            </a:r>
            <a:endParaRPr lang="en-US" sz="6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algn="ctr"/>
            <a:r>
              <a:rPr lang="id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Oleh sebab itu, penelitian ini berfokus pada pengembangan metode yang mampu mengatasi keterbatasan tersebut guna 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meningkatkan </a:t>
            </a:r>
            <a:r>
              <a:rPr lang="en-US" sz="6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keakuratan</a:t>
            </a:r>
            <a:r>
              <a:rPr lang="id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sistem deteksi engagement.</a:t>
            </a:r>
            <a:endParaRPr lang="en-ID" sz="600" b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3DB908-FE97-15BB-628B-D2D2DBEE4BD3}"/>
              </a:ext>
            </a:extLst>
          </p:cNvPr>
          <p:cNvSpPr/>
          <p:nvPr/>
        </p:nvSpPr>
        <p:spPr>
          <a:xfrm>
            <a:off x="2438400" y="1323975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EB2708-DE88-2160-939D-6472BD468982}"/>
              </a:ext>
            </a:extLst>
          </p:cNvPr>
          <p:cNvSpPr txBox="1"/>
          <p:nvPr/>
        </p:nvSpPr>
        <p:spPr>
          <a:xfrm>
            <a:off x="2443161" y="138504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TUJUAN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34A30F-8711-6A51-21F6-708F4CFC5625}"/>
              </a:ext>
            </a:extLst>
          </p:cNvPr>
          <p:cNvSpPr/>
          <p:nvPr/>
        </p:nvSpPr>
        <p:spPr>
          <a:xfrm>
            <a:off x="2561340" y="1692826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Membangun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sebuah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Learning Management System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yang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memiliki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fitur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Engagement Level Detection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memanfaatkan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Facial Emotion Recognition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dan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kepala dan status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endParaRPr lang="en-ID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A64665-C3D5-7851-6F99-80C5F0BB1176}"/>
              </a:ext>
            </a:extLst>
          </p:cNvPr>
          <p:cNvSpPr/>
          <p:nvPr/>
        </p:nvSpPr>
        <p:spPr>
          <a:xfrm>
            <a:off x="4672013" y="1323975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B7540B-A514-A2C0-8034-465CEB8ECE21}"/>
              </a:ext>
            </a:extLst>
          </p:cNvPr>
          <p:cNvSpPr txBox="1"/>
          <p:nvPr/>
        </p:nvSpPr>
        <p:spPr>
          <a:xfrm>
            <a:off x="4676774" y="1385049"/>
            <a:ext cx="12843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i="1" dirty="0">
                <a:latin typeface="Plus Jakarta Sans" pitchFamily="2" charset="0"/>
                <a:cs typeface="Plus Jakarta Sans" pitchFamily="2" charset="0"/>
              </a:rPr>
              <a:t>REQUIREMENT</a:t>
            </a:r>
            <a:endParaRPr lang="en-ID" sz="1200" b="1" i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DA3AC4-52B6-E1D8-7CF6-47EAD7494621}"/>
              </a:ext>
            </a:extLst>
          </p:cNvPr>
          <p:cNvSpPr/>
          <p:nvPr/>
        </p:nvSpPr>
        <p:spPr>
          <a:xfrm>
            <a:off x="4794953" y="1692826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LMS harus mampu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menyimpulkan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engagement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modal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kepala, dan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keadaan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endParaRPr lang="en-US" sz="9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pada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dalam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keadaan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tertutup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tangan dan </a:t>
            </a:r>
            <a:r>
              <a:rPr lang="en-US" sz="9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non-frontal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tetap </a:t>
            </a:r>
            <a:r>
              <a:rPr lang="en-US" sz="9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terjaga</a:t>
            </a:r>
            <a:r>
              <a:rPr lang="en-US" sz="9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endParaRPr lang="en-ID" sz="9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913D49-059A-902F-49CD-2DDD1AA36F6E}"/>
              </a:ext>
            </a:extLst>
          </p:cNvPr>
          <p:cNvSpPr/>
          <p:nvPr/>
        </p:nvSpPr>
        <p:spPr>
          <a:xfrm>
            <a:off x="4672013" y="3560234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CE863E-F68C-1EEF-0B97-D5E0A655A87A}"/>
              </a:ext>
            </a:extLst>
          </p:cNvPr>
          <p:cNvSpPr txBox="1"/>
          <p:nvPr/>
        </p:nvSpPr>
        <p:spPr>
          <a:xfrm>
            <a:off x="4676774" y="3621308"/>
            <a:ext cx="12666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METODOLOGI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A6B80D6-D3DD-929A-950C-EAE27DBD8BFC}"/>
              </a:ext>
            </a:extLst>
          </p:cNvPr>
          <p:cNvSpPr/>
          <p:nvPr/>
        </p:nvSpPr>
        <p:spPr>
          <a:xfrm>
            <a:off x="4794953" y="3929085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DSRM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Identifikasi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masalah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Definisi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Tujuan &amp;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Solusi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Perancangan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&amp;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Pengembangan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Demonstrasi</a:t>
            </a:r>
            <a:endParaRPr lang="en-US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Evaluasi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Komunikasi</a:t>
            </a:r>
            <a:endParaRPr lang="en-ID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B2FDD2-1D14-CAB6-AF82-68412F29E4B4}"/>
              </a:ext>
            </a:extLst>
          </p:cNvPr>
          <p:cNvSpPr/>
          <p:nvPr/>
        </p:nvSpPr>
        <p:spPr>
          <a:xfrm>
            <a:off x="1780309" y="115685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1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E17A66-C679-2FAD-A8B6-A03A183B614D}"/>
              </a:ext>
            </a:extLst>
          </p:cNvPr>
          <p:cNvSpPr/>
          <p:nvPr/>
        </p:nvSpPr>
        <p:spPr>
          <a:xfrm>
            <a:off x="3994881" y="114949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2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C61C15-EEC0-0A2B-1D6D-FDFBEA13DAA9}"/>
              </a:ext>
            </a:extLst>
          </p:cNvPr>
          <p:cNvSpPr/>
          <p:nvPr/>
        </p:nvSpPr>
        <p:spPr>
          <a:xfrm>
            <a:off x="6233255" y="114949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3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C9E807-FA50-3074-3C17-7DB9DA8E1D42}"/>
              </a:ext>
            </a:extLst>
          </p:cNvPr>
          <p:cNvSpPr/>
          <p:nvPr/>
        </p:nvSpPr>
        <p:spPr>
          <a:xfrm>
            <a:off x="6255144" y="3428210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4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040438-C3B5-521A-91E5-9F1A674024E0}"/>
              </a:ext>
            </a:extLst>
          </p:cNvPr>
          <p:cNvSpPr/>
          <p:nvPr/>
        </p:nvSpPr>
        <p:spPr>
          <a:xfrm>
            <a:off x="200026" y="3560234"/>
            <a:ext cx="4219574" cy="431783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2229BD-DAA7-57C0-4A04-F178C4238D57}"/>
              </a:ext>
            </a:extLst>
          </p:cNvPr>
          <p:cNvSpPr txBox="1"/>
          <p:nvPr/>
        </p:nvSpPr>
        <p:spPr>
          <a:xfrm>
            <a:off x="204787" y="3621308"/>
            <a:ext cx="1229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HASIL DESAIN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D0D02E-2931-089F-560A-8BC47B5F168D}"/>
              </a:ext>
            </a:extLst>
          </p:cNvPr>
          <p:cNvSpPr/>
          <p:nvPr/>
        </p:nvSpPr>
        <p:spPr>
          <a:xfrm>
            <a:off x="322966" y="3929084"/>
            <a:ext cx="3982334" cy="3795739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00" i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623ADF6-264A-24D7-55EF-6CED75975289}"/>
              </a:ext>
            </a:extLst>
          </p:cNvPr>
          <p:cNvSpPr/>
          <p:nvPr/>
        </p:nvSpPr>
        <p:spPr>
          <a:xfrm>
            <a:off x="3994881" y="3428210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5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342BCA-DAB6-1640-EB71-8893AB05548B}"/>
              </a:ext>
            </a:extLst>
          </p:cNvPr>
          <p:cNvSpPr/>
          <p:nvPr/>
        </p:nvSpPr>
        <p:spPr>
          <a:xfrm>
            <a:off x="4672013" y="5887339"/>
            <a:ext cx="1981200" cy="199072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9D14F0-A7FA-B2B2-8D25-4462A7900134}"/>
              </a:ext>
            </a:extLst>
          </p:cNvPr>
          <p:cNvSpPr txBox="1"/>
          <p:nvPr/>
        </p:nvSpPr>
        <p:spPr>
          <a:xfrm>
            <a:off x="4676774" y="5948413"/>
            <a:ext cx="9380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EVALUASI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C06543-C259-69E3-D622-3E27FB749457}"/>
              </a:ext>
            </a:extLst>
          </p:cNvPr>
          <p:cNvSpPr/>
          <p:nvPr/>
        </p:nvSpPr>
        <p:spPr>
          <a:xfrm>
            <a:off x="4794953" y="6256190"/>
            <a:ext cx="1743960" cy="146947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0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F4CDBF-2055-3826-3EC3-B8D132A2F4C9}"/>
              </a:ext>
            </a:extLst>
          </p:cNvPr>
          <p:cNvSpPr/>
          <p:nvPr/>
        </p:nvSpPr>
        <p:spPr>
          <a:xfrm>
            <a:off x="6255144" y="5755315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6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E2CBD052-EC86-3E8A-8BB2-AB1314997CE2}"/>
              </a:ext>
            </a:extLst>
          </p:cNvPr>
          <p:cNvSpPr/>
          <p:nvPr/>
        </p:nvSpPr>
        <p:spPr>
          <a:xfrm rot="5400000">
            <a:off x="2099570" y="2146576"/>
            <a:ext cx="372533" cy="18944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90C8A5D4-EBCD-4FF3-5748-B6D2F298B731}"/>
              </a:ext>
            </a:extLst>
          </p:cNvPr>
          <p:cNvSpPr/>
          <p:nvPr/>
        </p:nvSpPr>
        <p:spPr>
          <a:xfrm rot="5400000">
            <a:off x="4328054" y="2146576"/>
            <a:ext cx="372533" cy="18944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2B4201DF-FD6D-5C88-7756-806F5700CA56}"/>
              </a:ext>
            </a:extLst>
          </p:cNvPr>
          <p:cNvSpPr/>
          <p:nvPr/>
        </p:nvSpPr>
        <p:spPr>
          <a:xfrm rot="10800000">
            <a:off x="5476346" y="3322157"/>
            <a:ext cx="372533" cy="189442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3B962157-44EE-4CDD-379E-3F7423CA8F62}"/>
              </a:ext>
            </a:extLst>
          </p:cNvPr>
          <p:cNvSpPr/>
          <p:nvPr/>
        </p:nvSpPr>
        <p:spPr>
          <a:xfrm rot="16200000">
            <a:off x="4371446" y="4446587"/>
            <a:ext cx="37253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327EAFA0-8BB8-1A10-1F52-4E08E0C36E65}"/>
              </a:ext>
            </a:extLst>
          </p:cNvPr>
          <p:cNvSpPr/>
          <p:nvPr/>
        </p:nvSpPr>
        <p:spPr>
          <a:xfrm rot="5400000">
            <a:off x="4350982" y="6773692"/>
            <a:ext cx="37253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14D23F-FA8D-72C4-32CE-50A4C56F9C0B}"/>
              </a:ext>
            </a:extLst>
          </p:cNvPr>
          <p:cNvSpPr/>
          <p:nvPr/>
        </p:nvSpPr>
        <p:spPr>
          <a:xfrm>
            <a:off x="237751" y="8117415"/>
            <a:ext cx="6434203" cy="133445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6B873F-A35C-E866-43B1-F0A0923C4DD8}"/>
              </a:ext>
            </a:extLst>
          </p:cNvPr>
          <p:cNvSpPr txBox="1"/>
          <p:nvPr/>
        </p:nvSpPr>
        <p:spPr>
          <a:xfrm>
            <a:off x="291021" y="8206145"/>
            <a:ext cx="29754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200" b="1" dirty="0">
                <a:latin typeface="Plus Jakarta Sans" pitchFamily="2" charset="0"/>
                <a:cs typeface="Plus Jakarta Sans" pitchFamily="2" charset="0"/>
              </a:rPr>
              <a:t>KONTRIBUSI PRAKTIS DAN KEILMUAN</a:t>
            </a:r>
            <a:endParaRPr lang="en-ID" sz="1200" b="1" dirty="0"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A82C1B-43BD-17F9-17C1-E8A3FDA849D3}"/>
              </a:ext>
            </a:extLst>
          </p:cNvPr>
          <p:cNvSpPr/>
          <p:nvPr/>
        </p:nvSpPr>
        <p:spPr>
          <a:xfrm>
            <a:off x="409575" y="8486266"/>
            <a:ext cx="6148079" cy="8336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Kontribusi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praktis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yang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dihasilkan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adalah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konsep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pembelajaran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daring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fitur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umpan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balik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memanfaatkan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Facial Emotion Recognition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sebagai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instrumen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monitoring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pembelajaran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.</a:t>
            </a:r>
          </a:p>
          <a:p>
            <a:pPr algn="ctr"/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Kontribusi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b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keilmuannya</a:t>
            </a:r>
            <a:r>
              <a:rPr lang="en-US" sz="10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 suatu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pendekatan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dalam </a:t>
            </a:r>
            <a:r>
              <a:rPr lang="en-US" sz="10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pre-processing 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berupa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frontalisasi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dan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penghapusan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objek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oklusi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hanya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pemrosesan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gambar 2D,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sehingga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bisa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dijalankan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pada perangkat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spesifikasi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yang tidak </a:t>
            </a:r>
            <a:r>
              <a:rPr lang="en-US" sz="10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tinggi</a:t>
            </a:r>
            <a:r>
              <a:rPr lang="en-US" sz="10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.</a:t>
            </a:r>
            <a:endParaRPr lang="en-ID" sz="1000" i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9063A41-6317-FA0F-D77F-7C4B3AAB89A1}"/>
              </a:ext>
            </a:extLst>
          </p:cNvPr>
          <p:cNvSpPr/>
          <p:nvPr/>
        </p:nvSpPr>
        <p:spPr>
          <a:xfrm>
            <a:off x="6273885" y="7985391"/>
            <a:ext cx="346364" cy="3195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600" dirty="0">
                <a:latin typeface="Montserrat Black" panose="00000A00000000000000" pitchFamily="2" charset="0"/>
              </a:rPr>
              <a:t>7</a:t>
            </a:r>
            <a:endParaRPr lang="en-ID" sz="1600" dirty="0">
              <a:latin typeface="Montserrat Black" panose="00000A00000000000000" pitchFamily="2" charset="0"/>
            </a:endParaRPr>
          </a:p>
        </p:txBody>
      </p: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3C8A30A2-3C74-5EF6-FDCE-0F5EC782CA59}"/>
              </a:ext>
            </a:extLst>
          </p:cNvPr>
          <p:cNvSpPr/>
          <p:nvPr/>
        </p:nvSpPr>
        <p:spPr>
          <a:xfrm rot="10800000">
            <a:off x="5496984" y="7878064"/>
            <a:ext cx="372533" cy="218017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026" name="Picture 2" descr="@stei | Linktree">
            <a:extLst>
              <a:ext uri="{FF2B5EF4-FFF2-40B4-BE49-F238E27FC236}">
                <a16:creationId xmlns:a16="http://schemas.microsoft.com/office/drawing/2014/main" id="{D717C018-41E0-E7CE-F72D-8CEEF7AC3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42" y="9473201"/>
            <a:ext cx="412158" cy="41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randa Badan Pengembangan Sumber Daya Manusia Kementerian Komunikasi ...">
            <a:extLst>
              <a:ext uri="{FF2B5EF4-FFF2-40B4-BE49-F238E27FC236}">
                <a16:creationId xmlns:a16="http://schemas.microsoft.com/office/drawing/2014/main" id="{C7F12AE3-157B-0A94-3DFA-CE68959DE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24857" r="4713" b="21234"/>
          <a:stretch>
            <a:fillRect/>
          </a:stretch>
        </p:blipFill>
        <p:spPr bwMode="auto">
          <a:xfrm>
            <a:off x="572014" y="9502566"/>
            <a:ext cx="1237223" cy="382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D003374-13AF-7F6F-B337-4F391D75B532}"/>
              </a:ext>
            </a:extLst>
          </p:cNvPr>
          <p:cNvCxnSpPr/>
          <p:nvPr/>
        </p:nvCxnSpPr>
        <p:spPr>
          <a:xfrm>
            <a:off x="736600" y="942975"/>
            <a:ext cx="473974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8AE5825E-D0BB-48C2-B9A0-49652E40C830}"/>
              </a:ext>
            </a:extLst>
          </p:cNvPr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73" t="6174" r="21838" b="8503"/>
          <a:stretch/>
        </p:blipFill>
        <p:spPr bwMode="auto">
          <a:xfrm>
            <a:off x="385866" y="3983355"/>
            <a:ext cx="1609518" cy="1362386"/>
          </a:xfrm>
          <a:prstGeom prst="rect">
            <a:avLst/>
          </a:prstGeom>
          <a:ln w="317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9CE3CDB-7715-4B4F-8A53-C11DDD8B9C9A}"/>
              </a:ext>
            </a:extLst>
          </p:cNvPr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" t="22717" r="1825" b="19618"/>
          <a:stretch/>
        </p:blipFill>
        <p:spPr bwMode="auto">
          <a:xfrm>
            <a:off x="364235" y="5376518"/>
            <a:ext cx="2980379" cy="996723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FCCF439-3DB8-4612-8C40-18BC0E6972AE}"/>
              </a:ext>
            </a:extLst>
          </p:cNvPr>
          <p:cNvSpPr/>
          <p:nvPr/>
        </p:nvSpPr>
        <p:spPr>
          <a:xfrm>
            <a:off x="2029568" y="3977000"/>
            <a:ext cx="2207152" cy="136874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algn="just"/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Gambar /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frame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menjadi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input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sistem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selanjutnya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di-</a:t>
            </a:r>
            <a:r>
              <a:rPr lang="en-ID" sz="500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preprocessing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dengan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metode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usulan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hasilnya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data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yang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telah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di-</a:t>
            </a:r>
            <a:r>
              <a:rPr lang="en-ID" sz="500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frontalization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dan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dihilangkan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objek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tangan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data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kepala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dan status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Proses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selanjutnya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klasifikasi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oleh model FER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Data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arah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kepala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dan status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mata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untuk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dianalisis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tingkat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engagement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Output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akhirnya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tingkat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engagement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ID" sz="500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06F9DD6-DE7F-41E1-8592-CDFCBE52A4AC}"/>
              </a:ext>
            </a:extLst>
          </p:cNvPr>
          <p:cNvSpPr/>
          <p:nvPr/>
        </p:nvSpPr>
        <p:spPr>
          <a:xfrm>
            <a:off x="3353254" y="5393659"/>
            <a:ext cx="883466" cy="92052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Input </a:t>
            </a:r>
            <a:r>
              <a:rPr lang="en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(a)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akan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diproses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menjadi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Output</a:t>
            </a:r>
            <a:r>
              <a:rPr lang="en-ID" sz="600" b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(l)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lalu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output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akan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diproses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oleh model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untuk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diklasifikasikan</a:t>
            </a:r>
            <a:r>
              <a:rPr lang="en-ID" sz="6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wajahnya</a:t>
            </a:r>
            <a:endParaRPr lang="en-ID" sz="600" b="1" i="1" dirty="0">
              <a:solidFill>
                <a:schemeClr val="tx1"/>
              </a:solidFill>
              <a:latin typeface="Plus Jakarta Sans" pitchFamily="2" charset="0"/>
              <a:cs typeface="Plus Jakarta Sans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376564-A11A-4ED5-BC9D-1242FE09D1B9}"/>
              </a:ext>
            </a:extLst>
          </p:cNvPr>
          <p:cNvCxnSpPr>
            <a:cxnSpLocks/>
          </p:cNvCxnSpPr>
          <p:nvPr/>
        </p:nvCxnSpPr>
        <p:spPr>
          <a:xfrm flipV="1">
            <a:off x="319087" y="5371296"/>
            <a:ext cx="3986213" cy="522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1DA8E92-EFD3-49FF-94DA-BF6476C35B27}"/>
              </a:ext>
            </a:extLst>
          </p:cNvPr>
          <p:cNvCxnSpPr>
            <a:cxnSpLocks/>
          </p:cNvCxnSpPr>
          <p:nvPr/>
        </p:nvCxnSpPr>
        <p:spPr>
          <a:xfrm flipV="1">
            <a:off x="319406" y="6371643"/>
            <a:ext cx="3986213" cy="522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E9CD3C35-C108-4C1F-B25B-7C952220B2E3}"/>
              </a:ext>
            </a:extLst>
          </p:cNvPr>
          <p:cNvPicPr/>
          <p:nvPr/>
        </p:nvPicPr>
        <p:blipFill rotWithShape="1">
          <a:blip r:embed="rId8"/>
          <a:srcRect l="22748" t="28602" r="3835" b="23993"/>
          <a:stretch/>
        </p:blipFill>
        <p:spPr bwMode="auto">
          <a:xfrm>
            <a:off x="1043524" y="6444338"/>
            <a:ext cx="3258510" cy="11835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C14C618D-D5E2-471E-863D-B2F569429A15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980" y="4100288"/>
            <a:ext cx="2112328" cy="275591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91753459-E25C-4F7A-B373-A774D861F23D}"/>
              </a:ext>
            </a:extLst>
          </p:cNvPr>
          <p:cNvSpPr/>
          <p:nvPr/>
        </p:nvSpPr>
        <p:spPr>
          <a:xfrm>
            <a:off x="364235" y="6413410"/>
            <a:ext cx="666411" cy="127486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Keluaran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akhirnya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adalah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data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tingkat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engagement dan data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emosi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siswa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untuk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dijadikan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bahan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600" b="1" i="1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penilaian</a:t>
            </a:r>
            <a:r>
              <a:rPr lang="en-ID" sz="600" b="1" i="1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C05110F-0DE0-41E5-8C0B-202E355651B1}"/>
              </a:ext>
            </a:extLst>
          </p:cNvPr>
          <p:cNvPicPr/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9" t="11183" r="9070" b="889"/>
          <a:stretch/>
        </p:blipFill>
        <p:spPr bwMode="auto">
          <a:xfrm>
            <a:off x="4843652" y="6296187"/>
            <a:ext cx="1637133" cy="10576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1462D6E7-10E4-428D-BA4F-76EAB11C76EA}"/>
              </a:ext>
            </a:extLst>
          </p:cNvPr>
          <p:cNvSpPr/>
          <p:nvPr/>
        </p:nvSpPr>
        <p:spPr>
          <a:xfrm>
            <a:off x="4889791" y="7375173"/>
            <a:ext cx="1603974" cy="29054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sebelum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penerapan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metode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usulan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(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biru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)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tampak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rendah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setelah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penerapan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metode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usulan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(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oren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),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akurasinya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</a:t>
            </a:r>
            <a:r>
              <a:rPr lang="en-ID" sz="500" dirty="0" err="1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menjadi</a:t>
            </a:r>
            <a:r>
              <a:rPr lang="en-ID" sz="500" dirty="0">
                <a:solidFill>
                  <a:schemeClr val="tx1"/>
                </a:solidFill>
                <a:latin typeface="Plus Jakarta Sans" pitchFamily="2" charset="0"/>
                <a:cs typeface="Plus Jakarta Sans" pitchFamily="2" charset="0"/>
              </a:rPr>
              <a:t> naik</a:t>
            </a:r>
          </a:p>
        </p:txBody>
      </p:sp>
    </p:spTree>
    <p:extLst>
      <p:ext uri="{BB962C8B-B14F-4D97-AF65-F5344CB8AC3E}">
        <p14:creationId xmlns:p14="http://schemas.microsoft.com/office/powerpoint/2010/main" val="322675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</TotalTime>
  <Words>354</Words>
  <Application>Microsoft Office PowerPoint</Application>
  <PresentationFormat>A4 Paper (210x297 mm)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Montserrat Black</vt:lpstr>
      <vt:lpstr>Arial</vt:lpstr>
      <vt:lpstr>Plus Jakarta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Arry Akhmad Arman</dc:creator>
  <cp:lastModifiedBy>it</cp:lastModifiedBy>
  <cp:revision>7</cp:revision>
  <dcterms:created xsi:type="dcterms:W3CDTF">2025-11-11T00:18:10Z</dcterms:created>
  <dcterms:modified xsi:type="dcterms:W3CDTF">2025-11-24T13:12:08Z</dcterms:modified>
</cp:coreProperties>
</file>